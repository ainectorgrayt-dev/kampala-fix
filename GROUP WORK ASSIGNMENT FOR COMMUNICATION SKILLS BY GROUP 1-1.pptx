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3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540" y="72"/>
      </p:cViewPr>
      <p:guideLst>
        <p:guide orient="horz" pos="216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00"/>
            </a:lvl1pPr>
          </a:lstStyle>
          <a:p>
            <a:fld id="{696C064A-D61B-4B21-B757-51A9B82445B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246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205" y="639445"/>
            <a:ext cx="10942955" cy="1640205"/>
          </a:xfrm>
        </p:spPr>
        <p:txBody>
          <a:bodyPr>
            <a:normAutofit fontScale="90000"/>
          </a:bodyPr>
          <a:lstStyle/>
          <a:p>
            <a:r>
              <a:rPr lang="en-US" altLang="en-GB" sz="2220" b="1"/>
              <a:t>GROUP WORK ASSIGNMENT FOR COMMUNICATION SKILLS BY GROUP 1</a:t>
            </a:r>
            <a:r>
              <a:rPr lang="en-US" altLang="en-GB"/>
              <a:t/>
            </a:r>
            <a:br>
              <a:rPr lang="en-US" altLang="en-GB"/>
            </a:br>
            <a:r>
              <a:rPr lang="en-US" altLang="en-GB" sz="2000" b="1" dirty="0">
                <a:sym typeface="+mn-ea"/>
              </a:rPr>
              <a:t>COURSE UNIT: BIS 1104/UNV 1101</a:t>
            </a:r>
            <a:br>
              <a:rPr lang="en-US" altLang="en-GB" sz="2000" b="1" dirty="0">
                <a:sym typeface="+mn-ea"/>
              </a:rPr>
            </a:br>
            <a:r>
              <a:rPr lang="en-US" altLang="en-GB" sz="2000" b="1" dirty="0">
                <a:sym typeface="+mn-ea"/>
              </a:rPr>
              <a:t>SEMESTER:1</a:t>
            </a:r>
            <a:br>
              <a:rPr lang="en-US" altLang="en-GB" sz="2000" b="1" dirty="0">
                <a:sym typeface="+mn-ea"/>
              </a:rPr>
            </a:br>
            <a:r>
              <a:rPr lang="en-US" altLang="en-GB" sz="2000" b="1" dirty="0">
                <a:sym typeface="+mn-ea"/>
              </a:rPr>
              <a:t>LECTURER: KOMUGISHA LILIAN</a:t>
            </a:r>
            <a:br>
              <a:rPr lang="en-US" altLang="en-GB" sz="2000" b="1" dirty="0">
                <a:sym typeface="+mn-ea"/>
              </a:rPr>
            </a:br>
            <a:r>
              <a:rPr lang="en-US" altLang="en-GB" sz="2000" b="1" dirty="0">
                <a:sym typeface="+mn-ea"/>
              </a:rPr>
              <a:t>YEAR: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624840" y="2535555"/>
          <a:ext cx="10502265" cy="3777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755"/>
                <a:gridCol w="3500755"/>
                <a:gridCol w="3500755"/>
              </a:tblGrid>
              <a:tr h="527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/>
                        <a:t>REGESTRATION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/>
                        <a:t>STUDENT NO:</a:t>
                      </a:r>
                    </a:p>
                  </a:txBody>
                  <a:tcPr/>
                </a:tc>
              </a:tr>
              <a:tr h="527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/>
                        <a:t>AINEBYONA VICTOR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/>
                        <a:t>26/U/04227/PSA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 dirty="0">
                          <a:sym typeface="+mn-ea"/>
                        </a:rPr>
                        <a:t>2600703692</a:t>
                      </a:r>
                      <a:endParaRPr lang="en-US" altLang="en-GB" sz="1500" dirty="0"/>
                    </a:p>
                    <a:p>
                      <a:pPr>
                        <a:buNone/>
                      </a:pPr>
                      <a:endParaRPr lang="en-US" altLang="en-GB" sz="1500" dirty="0"/>
                    </a:p>
                  </a:txBody>
                  <a:tcPr/>
                </a:tc>
              </a:tr>
              <a:tr h="527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ACHUDA FREDRICK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26/U/29544/PSA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2600729544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</a:tr>
              <a:tr h="527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AKAMPURIRA IAN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26/U/03698/PS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 dirty="0">
                          <a:sym typeface="+mn-ea"/>
                        </a:rPr>
                        <a:t>2600703698</a:t>
                      </a:r>
                      <a:endParaRPr lang="en-US" altLang="en-GB" sz="1500" dirty="0"/>
                    </a:p>
                    <a:p>
                      <a:pPr>
                        <a:buNone/>
                      </a:pPr>
                      <a:endParaRPr lang="en-US" altLang="en-GB" sz="1500" dirty="0"/>
                    </a:p>
                  </a:txBody>
                  <a:tcPr/>
                </a:tc>
              </a:tr>
              <a:tr h="527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ODOI VINCENT 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26/U/30208/PS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>
                          <a:sym typeface="+mn-ea"/>
                        </a:rPr>
                        <a:t>2600730208</a:t>
                      </a:r>
                      <a:endParaRPr lang="en-US" altLang="en-GB" sz="1500"/>
                    </a:p>
                    <a:p>
                      <a:pPr>
                        <a:buNone/>
                      </a:pPr>
                      <a:endParaRPr lang="en-US" altLang="en-GB" sz="1500"/>
                    </a:p>
                  </a:txBody>
                  <a:tcPr/>
                </a:tc>
              </a:tr>
              <a:tr h="527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/>
                        <a:t>ABOKU GEORGE PHILIP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/>
                        <a:t>26/U/03678/PSA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/>
                        <a:t>2600703678</a:t>
                      </a:r>
                    </a:p>
                  </a:txBody>
                  <a:tcPr/>
                </a:tc>
              </a:tr>
              <a:tr h="527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/>
                        <a:t>WAMANGA SHAMIHA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/>
                        <a:t>26/U/04227/PS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500"/>
                        <a:t>2600704227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280795"/>
          </a:xfrm>
        </p:spPr>
        <p:txBody>
          <a:bodyPr>
            <a:normAutofit/>
          </a:bodyPr>
          <a:lstStyle/>
          <a:p>
            <a:pPr algn="ctr"/>
            <a:r>
              <a:rPr lang="en-US" altLang="en-GB" sz="4445" dirty="0" smtClean="0">
                <a:latin typeface="Arial Black" panose="020B0A04020102020204" charset="0"/>
                <a:cs typeface="Arial Black" panose="020B0A04020102020204" charset="0"/>
              </a:rPr>
              <a:t> Communication</a:t>
            </a:r>
            <a:endParaRPr lang="en-US" altLang="en-GB" sz="4445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71295"/>
            <a:ext cx="10972800" cy="4656455"/>
          </a:xfrm>
        </p:spPr>
        <p:txBody>
          <a:bodyPr/>
          <a:lstStyle/>
          <a:p>
            <a:pPr marL="0" indent="0">
              <a:buNone/>
            </a:pPr>
            <a:r>
              <a:rPr lang="en-US" altLang="en-GB" sz="4000" dirty="0" smtClean="0"/>
              <a:t>  Communication</a:t>
            </a:r>
            <a:r>
              <a:rPr lang="" altLang="en-US" sz="4000" dirty="0"/>
              <a:t> </a:t>
            </a:r>
            <a:r>
              <a:rPr lang="en-US" altLang="en-GB" sz="4000" dirty="0"/>
              <a:t>is the process of</a:t>
            </a:r>
            <a:r>
              <a:rPr lang="" altLang="en-US" sz="4000" dirty="0"/>
              <a:t> </a:t>
            </a:r>
            <a:r>
              <a:rPr lang="en-US" altLang="en-GB" sz="4000" dirty="0"/>
              <a:t>sending, receiving, and understanding information, ideas, thoughts, or feelings between people</a:t>
            </a:r>
            <a:r>
              <a:rPr lang="en-US" altLang="en-GB" sz="4000" dirty="0" smtClean="0"/>
              <a:t>.</a:t>
            </a:r>
          </a:p>
          <a:p>
            <a:pPr marL="0" indent="0">
              <a:buNone/>
            </a:pPr>
            <a:endParaRPr lang="en-US" altLang="en-GB" sz="4000" dirty="0"/>
          </a:p>
          <a:p>
            <a:pPr marL="0" indent="0">
              <a:buNone/>
            </a:pPr>
            <a:r>
              <a:rPr lang="en-US" altLang="en-GB" sz="4000" dirty="0"/>
              <a:t>In simple terms, communication is</a:t>
            </a:r>
            <a:r>
              <a:rPr lang="" altLang="en-US" sz="4000" dirty="0"/>
              <a:t> </a:t>
            </a:r>
            <a:r>
              <a:rPr lang="en-US" altLang="en-GB" sz="4000" dirty="0"/>
              <a:t>how people share information with one another</a:t>
            </a:r>
            <a:r>
              <a:rPr lang="en-US" altLang="en-GB" sz="4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sz="6000" b="1">
                <a:solidFill>
                  <a:schemeClr val="tx1"/>
                </a:solidFill>
              </a:rPr>
              <a:t>Examples of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/>
              <a:t>Speaking and listening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/>
              <a:t>Writing and reading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/>
              <a:t>Using gestures or facial expressions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/>
              <a:t>Sending messages or emails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/>
              <a:t>Using signs, pictures, or symbols</a:t>
            </a:r>
          </a:p>
          <a:p>
            <a:r>
              <a:rPr lang="en-US" altLang="en-GB" b="1"/>
              <a:t>NOTE;</a:t>
            </a:r>
          </a:p>
          <a:p>
            <a:pPr marL="0" indent="0">
              <a:buNone/>
            </a:pPr>
            <a:r>
              <a:rPr lang="en-US" altLang="en-GB"/>
              <a:t>Key elements of communication are;   </a:t>
            </a:r>
            <a:r>
              <a:rPr lang="" altLang="en-US"/>
              <a:t> </a:t>
            </a:r>
            <a:r>
              <a:rPr lang="en-US"/>
              <a:t>the </a:t>
            </a:r>
            <a:r>
              <a:rPr lang="en-US" altLang="en-GB"/>
              <a:t>sender, message, medium/channel, receiver, and feedback.</a:t>
            </a:r>
          </a:p>
          <a:p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478280"/>
          </a:xfrm>
        </p:spPr>
        <p:txBody>
          <a:bodyPr>
            <a:normAutofit/>
          </a:bodyPr>
          <a:lstStyle/>
          <a:p>
            <a:pPr algn="ctr"/>
            <a:r>
              <a:rPr lang="en-US" altLang="en-GB" sz="4445" b="1" dirty="0"/>
              <a:t>T</a:t>
            </a:r>
            <a:r>
              <a:rPr lang="en-US" altLang="en-GB" sz="4445" b="1" dirty="0" smtClean="0"/>
              <a:t>ypes </a:t>
            </a:r>
            <a:r>
              <a:rPr lang="en-US" altLang="en-GB" sz="4445" b="1" dirty="0"/>
              <a:t>of communication: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68780"/>
            <a:ext cx="10972800" cy="4963839"/>
          </a:xfrm>
        </p:spPr>
        <p:txBody>
          <a:bodyPr/>
          <a:lstStyle/>
          <a:p>
            <a:pPr marL="0" indent="0">
              <a:buNone/>
            </a:pPr>
            <a:r>
              <a:rPr lang="en-US" altLang="en-GB" dirty="0"/>
              <a:t> Communication can be divided into different types depending on how information is shared. The three common types </a:t>
            </a:r>
            <a:r>
              <a:rPr lang="en-US" altLang="en-GB" dirty="0" smtClean="0"/>
              <a:t>are</a:t>
            </a:r>
            <a:r>
              <a:rPr lang="" altLang="en-GB" dirty="0" smtClean="0"/>
              <a:t>;</a:t>
            </a:r>
            <a:endParaRPr lang="en-US" altLang="en-GB" dirty="0" smtClean="0"/>
          </a:p>
          <a:p>
            <a:pPr marL="0" indent="0">
              <a:buNone/>
            </a:pPr>
            <a:endParaRPr lang="en-US" altLang="en-GB" dirty="0"/>
          </a:p>
          <a:p>
            <a:pPr>
              <a:buFont typeface="Wingdings" panose="05000000000000000000" charset="0"/>
              <a:buChar char="Ø"/>
            </a:pPr>
            <a:r>
              <a:rPr lang="en-US" altLang="en-GB" dirty="0" smtClean="0"/>
              <a:t>Verbal </a:t>
            </a:r>
            <a:r>
              <a:rPr lang="en-US" altLang="en-GB" dirty="0"/>
              <a:t>communication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/>
              <a:t>Nonverbal communication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/>
              <a:t>Written Communication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7458075" y="26473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7383"/>
            <a:ext cx="10515600" cy="5875655"/>
          </a:xfrm>
        </p:spPr>
        <p:txBody>
          <a:bodyPr>
            <a:normAutofit fontScale="82500" lnSpcReduction="20000"/>
          </a:bodyPr>
          <a:lstStyle/>
          <a:p>
            <a:pPr marL="0" indent="0">
              <a:buNone/>
            </a:pPr>
            <a:r>
              <a:rPr lang="en-US" altLang="en-GB" dirty="0" smtClean="0"/>
              <a:t>.</a:t>
            </a:r>
            <a:endParaRPr lang="en-US" altLang="en-GB" dirty="0"/>
          </a:p>
          <a:p>
            <a:pPr marL="0" indent="0">
              <a:buNone/>
            </a:pPr>
            <a:r>
              <a:rPr lang="en-US" altLang="en-GB" sz="4665" b="1" dirty="0"/>
              <a:t>1. Verbal Communication</a:t>
            </a:r>
          </a:p>
          <a:p>
            <a:pPr marL="0" indent="0">
              <a:buNone/>
            </a:pPr>
            <a:r>
              <a:rPr lang="en-US" altLang="en-GB" dirty="0"/>
              <a:t>      Verbal communication</a:t>
            </a:r>
            <a:r>
              <a:rPr lang="" altLang="en-US" dirty="0"/>
              <a:t> </a:t>
            </a:r>
            <a:r>
              <a:rPr lang="en-US" altLang="en-GB" dirty="0"/>
              <a:t>is the use of</a:t>
            </a:r>
            <a:r>
              <a:rPr lang="" altLang="en-US" dirty="0"/>
              <a:t> </a:t>
            </a:r>
            <a:r>
              <a:rPr lang="en-US" altLang="en-GB" dirty="0"/>
              <a:t>spoken words to share information, ideas, thoughts, or feelings</a:t>
            </a:r>
            <a:r>
              <a:rPr lang="" altLang="en-US" dirty="0"/>
              <a:t> </a:t>
            </a:r>
            <a:r>
              <a:rPr lang="en-US" altLang="en-GB" dirty="0"/>
              <a:t>with another person or group.</a:t>
            </a:r>
          </a:p>
          <a:p>
            <a:pPr marL="0" indent="0">
              <a:buNone/>
            </a:pPr>
            <a:r>
              <a:rPr lang="en-US" altLang="en-GB" dirty="0"/>
              <a:t>It is commonly used in face-to-face conversations, meetings, interviews, speeches, and telephone calls.</a:t>
            </a:r>
          </a:p>
          <a:p>
            <a:pPr marL="0" indent="0">
              <a:buNone/>
            </a:pPr>
            <a:r>
              <a:rPr lang="en-US" altLang="en-GB" b="1" dirty="0"/>
              <a:t> Examples: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/>
              <a:t>Talking to a friend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/>
              <a:t>Giving instructions to employees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/>
              <a:t>Participating in a classroom discussion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/>
              <a:t>Giving a speech or presentation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/>
              <a:t>Talking on the telephone</a:t>
            </a:r>
          </a:p>
          <a:p>
            <a:pPr marL="0" indent="0">
              <a:buNone/>
            </a:pPr>
            <a:r>
              <a:rPr lang="en-US" altLang="en-GB" dirty="0"/>
              <a:t>    Importance:</a:t>
            </a:r>
            <a:r>
              <a:rPr lang="" altLang="en-US" dirty="0"/>
              <a:t> </a:t>
            </a:r>
            <a:r>
              <a:rPr lang="en-US" altLang="en-GB" dirty="0"/>
              <a:t>Verbal communication allows people to communicate quickly and can provide immediate feedback through questions and responses.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80695"/>
            <a:ext cx="10515600" cy="5696585"/>
          </a:xfrm>
        </p:spPr>
        <p:txBody>
          <a:bodyPr>
            <a:normAutofit fontScale="65000" lnSpcReduction="20000"/>
          </a:bodyPr>
          <a:lstStyle/>
          <a:p>
            <a:pPr marL="0" indent="0" algn="ctr">
              <a:buNone/>
            </a:pPr>
            <a:r>
              <a:rPr lang="en-US" altLang="en-GB" sz="7200" b="1"/>
              <a:t>2. Non-Verbal Communication</a:t>
            </a:r>
          </a:p>
          <a:p>
            <a:pPr marL="0" indent="0">
              <a:buNone/>
            </a:pPr>
            <a:r>
              <a:rPr lang="en-US" altLang="en-GB"/>
              <a:t>      Non-verbal communication</a:t>
            </a:r>
            <a:r>
              <a:rPr lang="" altLang="en-US"/>
              <a:t> </a:t>
            </a:r>
            <a:r>
              <a:rPr lang="en-US" altLang="en-GB"/>
              <a:t>is the process of communicating</a:t>
            </a:r>
            <a:r>
              <a:rPr lang="" altLang="en-US"/>
              <a:t> </a:t>
            </a:r>
            <a:r>
              <a:rPr lang="en-US" altLang="en-GB"/>
              <a:t>without using spoken or written words. It involves body movements, facial expressions, gestures, posture, eye contact, and tone of voice.</a:t>
            </a:r>
          </a:p>
          <a:p>
            <a:pPr marL="0" indent="0">
              <a:buNone/>
            </a:pPr>
            <a:r>
              <a:rPr lang="en-US" altLang="en-GB"/>
              <a:t>   </a:t>
            </a:r>
            <a:r>
              <a:rPr lang="en-US" altLang="en-GB" b="1"/>
              <a:t>Examples: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Smiling to show happiness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Nodding to show agreement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Waving to greet someone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Maintaining eye contact to show attention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Crossing your arms to show discomfort or disagreement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/>
              <a:t>Using facial expressions to show emotions</a:t>
            </a:r>
          </a:p>
          <a:p>
            <a:pPr marL="0" indent="0">
              <a:buNone/>
            </a:pPr>
            <a:r>
              <a:rPr lang="en-US" altLang="en-GB"/>
              <a:t>Importance:</a:t>
            </a:r>
            <a:r>
              <a:rPr lang="" altLang="en-US"/>
              <a:t> </a:t>
            </a:r>
            <a:r>
              <a:rPr lang="en-US" altLang="en-GB"/>
              <a:t>Non-verbal communication helps express feelings and attitudes and can support or sometimes contradict what a person is saying.</a:t>
            </a:r>
          </a:p>
          <a:p>
            <a:pPr marL="0" indent="0" algn="ctr">
              <a:buNone/>
            </a:pPr>
            <a:r>
              <a:rPr lang="en-US" altLang="en-GB" sz="7200" b="1"/>
              <a:t>3. Written Communication</a:t>
            </a:r>
          </a:p>
          <a:p>
            <a:pPr marL="0" indent="0">
              <a:buNone/>
            </a:pPr>
            <a:r>
              <a:rPr lang="en-US" altLang="en-GB"/>
              <a:t>      Written communication</a:t>
            </a:r>
            <a:r>
              <a:rPr lang="" altLang="en-US"/>
              <a:t> </a:t>
            </a:r>
            <a:r>
              <a:rPr lang="en-US" altLang="en-GB"/>
              <a:t>involves using</a:t>
            </a:r>
            <a:r>
              <a:rPr lang="" altLang="en-US"/>
              <a:t> </a:t>
            </a:r>
            <a:r>
              <a:rPr lang="en-US" altLang="en-GB"/>
              <a:t>written words or symbols to send information from one person to another. It is useful when information needs to be recorded, stored, or referred to later.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7230"/>
            <a:ext cx="10515600" cy="5480050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en-GB" sz="2800" b="1">
                <a:solidFill>
                  <a:schemeClr val="tx1"/>
                </a:solidFill>
              </a:rPr>
              <a:t>Examples: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800"/>
              <a:t>Letters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800"/>
              <a:t>Emails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800"/>
              <a:t>Text messages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800"/>
              <a:t>Reports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800"/>
              <a:t>Notices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800"/>
              <a:t>Business documents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sz="2800"/>
              <a:t>Social media posts</a:t>
            </a:r>
          </a:p>
          <a:p>
            <a:pPr marL="0" indent="0">
              <a:buNone/>
            </a:pPr>
            <a:r>
              <a:rPr lang="en-US" altLang="en-GB" sz="2800" b="1"/>
              <a:t>Importance:</a:t>
            </a:r>
            <a:r>
              <a:rPr lang="" altLang="en-US" sz="2800"/>
              <a:t> </a:t>
            </a:r>
            <a:r>
              <a:rPr lang="en-US" altLang="en-GB" sz="2800"/>
              <a:t>Written communication provides a permanent record of information and allows people to communicate even when they are not together at the same 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 dirty="0" smtClean="0"/>
              <a:t> Terms used </a:t>
            </a:r>
            <a:r>
              <a:rPr lang="en-US" altLang="en-GB" dirty="0"/>
              <a:t>in communication </a:t>
            </a:r>
            <a:r>
              <a:rPr lang="en-US" altLang="en-GB" dirty="0" smtClean="0"/>
              <a:t>process.</a:t>
            </a:r>
            <a:endParaRPr lang="en-US" alt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49"/>
            <a:ext cx="10972800" cy="54449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GB" b="1" dirty="0"/>
              <a:t>1. Sender</a:t>
            </a:r>
          </a:p>
          <a:p>
            <a:pPr marL="0" indent="0">
              <a:buNone/>
            </a:pPr>
            <a:r>
              <a:rPr lang="en-US" altLang="en-GB" dirty="0"/>
              <a:t>The</a:t>
            </a:r>
            <a:r>
              <a:rPr lang="" altLang="en-US" dirty="0"/>
              <a:t> </a:t>
            </a:r>
            <a:r>
              <a:rPr lang="en-US" altLang="en-GB" dirty="0"/>
              <a:t>sender</a:t>
            </a:r>
            <a:r>
              <a:rPr lang="" altLang="en-US" dirty="0"/>
              <a:t> </a:t>
            </a:r>
            <a:r>
              <a:rPr lang="en-US" altLang="en-GB" dirty="0"/>
              <a:t>is the person who</a:t>
            </a:r>
            <a:r>
              <a:rPr lang="" altLang="en-US" dirty="0"/>
              <a:t> </a:t>
            </a:r>
            <a:r>
              <a:rPr lang="en-US" altLang="en-GB" dirty="0"/>
              <a:t>starts the communication by creating and sending information</a:t>
            </a:r>
            <a:r>
              <a:rPr lang="" altLang="en-US" dirty="0"/>
              <a:t> </a:t>
            </a:r>
            <a:r>
              <a:rPr lang="en-US" altLang="en-GB" dirty="0"/>
              <a:t>to another person or group.</a:t>
            </a:r>
          </a:p>
          <a:p>
            <a:pPr marL="0" indent="0">
              <a:buNone/>
            </a:pPr>
            <a:r>
              <a:rPr lang="en-US" altLang="en-GB" dirty="0"/>
              <a:t>Example:</a:t>
            </a:r>
            <a:r>
              <a:rPr lang="" altLang="en-US" dirty="0"/>
              <a:t> </a:t>
            </a:r>
            <a:r>
              <a:rPr lang="en-US" altLang="en-GB" dirty="0"/>
              <a:t>A teacher giving instructions to students is the sender</a:t>
            </a:r>
            <a:r>
              <a:rPr lang="en-US" altLang="en-GB" dirty="0" smtClean="0"/>
              <a:t>.</a:t>
            </a:r>
          </a:p>
          <a:p>
            <a:pPr marL="0" indent="0">
              <a:buNone/>
            </a:pPr>
            <a:r>
              <a:rPr lang="en-US" altLang="en-GB" b="1" dirty="0"/>
              <a:t>2</a:t>
            </a:r>
            <a:r>
              <a:rPr lang="en-US" altLang="en-GB" b="1" dirty="0" smtClean="0"/>
              <a:t>. </a:t>
            </a:r>
            <a:r>
              <a:rPr lang="en-US" altLang="en-GB" b="1" dirty="0"/>
              <a:t>Message</a:t>
            </a:r>
          </a:p>
          <a:p>
            <a:pPr marL="0" indent="0">
              <a:buNone/>
            </a:pPr>
            <a:r>
              <a:rPr lang="en-US" altLang="en-GB" dirty="0"/>
              <a:t>The</a:t>
            </a:r>
            <a:r>
              <a:rPr lang="" altLang="en-US" dirty="0"/>
              <a:t> </a:t>
            </a:r>
            <a:r>
              <a:rPr lang="en-US" altLang="en-GB" dirty="0"/>
              <a:t>message</a:t>
            </a:r>
            <a:r>
              <a:rPr lang="" altLang="en-US" dirty="0"/>
              <a:t> </a:t>
            </a:r>
            <a:r>
              <a:rPr lang="en-US" altLang="en-GB" dirty="0"/>
              <a:t>is the</a:t>
            </a:r>
            <a:r>
              <a:rPr lang="" altLang="en-US" dirty="0"/>
              <a:t> </a:t>
            </a:r>
            <a:r>
              <a:rPr lang="en-US" altLang="en-GB" dirty="0"/>
              <a:t>information, idea, thought, feeling, or instruction that the sender wants to communicate</a:t>
            </a:r>
            <a:r>
              <a:rPr lang="" altLang="en-US" dirty="0"/>
              <a:t> </a:t>
            </a:r>
            <a:r>
              <a:rPr lang="en-US" altLang="en-GB" dirty="0"/>
              <a:t>to the receiver.</a:t>
            </a:r>
          </a:p>
          <a:p>
            <a:pPr marL="0" indent="0">
              <a:buNone/>
            </a:pPr>
            <a:r>
              <a:rPr lang="en-US" altLang="en-GB" dirty="0"/>
              <a:t>Example:</a:t>
            </a:r>
            <a:r>
              <a:rPr lang="" altLang="en-US" dirty="0"/>
              <a:t> </a:t>
            </a:r>
            <a:r>
              <a:rPr lang="en-US" altLang="en-GB" dirty="0"/>
              <a:t>"Submit your assignment by Friday" is a message</a:t>
            </a:r>
            <a:r>
              <a:rPr lang="en-US" altLang="en-GB" dirty="0" smtClean="0"/>
              <a:t>.</a:t>
            </a:r>
          </a:p>
          <a:p>
            <a:pPr marL="0" indent="0">
              <a:buNone/>
            </a:pPr>
            <a:r>
              <a:rPr lang="en-GB" altLang="en-GB" b="1" dirty="0" smtClean="0"/>
              <a:t>3</a:t>
            </a:r>
            <a:r>
              <a:rPr lang="en-GB" altLang="en-GB" dirty="0" smtClean="0"/>
              <a:t>.</a:t>
            </a:r>
            <a:r>
              <a:rPr lang="en-GB" altLang="en-GB" b="1" dirty="0" smtClean="0"/>
              <a:t> Encoding</a:t>
            </a:r>
            <a:r>
              <a:rPr lang="en-GB" altLang="en-GB" dirty="0" smtClean="0"/>
              <a:t>; The step where the sender turns their thoughts into a readable or spoken code like language or symbols</a:t>
            </a:r>
            <a:endParaRPr lang="en-US" alt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0395"/>
            <a:ext cx="10515600" cy="55568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en-GB" b="1" dirty="0"/>
              <a:t>4. Medium</a:t>
            </a:r>
          </a:p>
          <a:p>
            <a:pPr marL="0" indent="0">
              <a:buNone/>
            </a:pPr>
            <a:r>
              <a:rPr lang="en-US" altLang="en-GB" dirty="0"/>
              <a:t>The</a:t>
            </a:r>
            <a:r>
              <a:rPr lang="" altLang="en-US" dirty="0"/>
              <a:t> </a:t>
            </a:r>
            <a:r>
              <a:rPr lang="en-US" altLang="en-GB" dirty="0"/>
              <a:t>medium</a:t>
            </a:r>
            <a:r>
              <a:rPr lang="" altLang="en-US" dirty="0"/>
              <a:t> </a:t>
            </a:r>
            <a:r>
              <a:rPr lang="en-US" altLang="en-GB" dirty="0"/>
              <a:t>is the</a:t>
            </a:r>
            <a:r>
              <a:rPr lang="" altLang="en-US" dirty="0"/>
              <a:t> </a:t>
            </a:r>
            <a:r>
              <a:rPr lang="en-US" altLang="en-GB" dirty="0"/>
              <a:t>method or channel used to transmit the message from the sender to the receiver.</a:t>
            </a:r>
          </a:p>
          <a:p>
            <a:pPr marL="0" indent="0">
              <a:buNone/>
            </a:pPr>
            <a:r>
              <a:rPr lang="en-US" altLang="en-GB" b="1" dirty="0"/>
              <a:t>Examples: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/>
              <a:t>Speaking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/>
              <a:t>Telephone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/>
              <a:t>Email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/>
              <a:t>Letter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/>
              <a:t>Text message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dirty="0"/>
              <a:t>Social </a:t>
            </a:r>
            <a:r>
              <a:rPr lang="en-US" altLang="en-GB" dirty="0" smtClean="0"/>
              <a:t>media</a:t>
            </a:r>
            <a:endParaRPr lang="en-US" altLang="en-GB" dirty="0"/>
          </a:p>
          <a:p>
            <a:pPr marL="0" indent="0">
              <a:buNone/>
            </a:pPr>
            <a:r>
              <a:rPr lang="en-US" altLang="en-GB" b="1" dirty="0">
                <a:solidFill>
                  <a:schemeClr val="tx1"/>
                </a:solidFill>
              </a:rPr>
              <a:t>Example</a:t>
            </a:r>
            <a:r>
              <a:rPr lang="en-US" altLang="en-GB" dirty="0"/>
              <a:t>:</a:t>
            </a:r>
            <a:r>
              <a:rPr lang="" altLang="en-US" dirty="0"/>
              <a:t> </a:t>
            </a:r>
            <a:r>
              <a:rPr lang="en-US" altLang="en-GB" dirty="0"/>
              <a:t>If a teacher sends instructions through </a:t>
            </a:r>
            <a:r>
              <a:rPr lang="en-US" altLang="en-GB" dirty="0" err="1"/>
              <a:t>WhatSapp</a:t>
            </a:r>
            <a:r>
              <a:rPr lang="en-US" altLang="en-GB" dirty="0"/>
              <a:t>, </a:t>
            </a:r>
            <a:r>
              <a:rPr lang="en-US" altLang="en-GB" dirty="0" err="1"/>
              <a:t>WhatsApp</a:t>
            </a:r>
            <a:r>
              <a:rPr lang="en-US" altLang="en-GB" dirty="0"/>
              <a:t> is the medium.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53085"/>
            <a:ext cx="10515600" cy="562419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en-GB" b="1" dirty="0"/>
              <a:t>5</a:t>
            </a:r>
            <a:r>
              <a:rPr lang="en-US" altLang="en-GB" b="1" dirty="0" smtClean="0"/>
              <a:t>. Receiver;</a:t>
            </a:r>
            <a:r>
              <a:rPr lang="" altLang="en-US" dirty="0"/>
              <a:t> </a:t>
            </a:r>
            <a:r>
              <a:rPr lang="en-US" altLang="en-US" dirty="0" smtClean="0"/>
              <a:t>This i</a:t>
            </a:r>
            <a:r>
              <a:rPr lang="en-US" altLang="en-GB" dirty="0" smtClean="0"/>
              <a:t>s </a:t>
            </a:r>
            <a:r>
              <a:rPr lang="en-US" altLang="en-GB" dirty="0"/>
              <a:t>the person or group who</a:t>
            </a:r>
            <a:r>
              <a:rPr lang="" altLang="en-US" dirty="0"/>
              <a:t> </a:t>
            </a:r>
            <a:r>
              <a:rPr lang="en-US" altLang="en-GB" dirty="0"/>
              <a:t>receives and interprets the message</a:t>
            </a:r>
            <a:r>
              <a:rPr lang="" altLang="en-US" dirty="0"/>
              <a:t> </a:t>
            </a:r>
            <a:r>
              <a:rPr lang="en-US" altLang="en-GB" dirty="0"/>
              <a:t>sent by the sender.</a:t>
            </a:r>
          </a:p>
          <a:p>
            <a:pPr marL="0" indent="0">
              <a:buNone/>
            </a:pPr>
            <a:r>
              <a:rPr lang="en-US" altLang="en-GB" dirty="0"/>
              <a:t>Example:</a:t>
            </a:r>
            <a:r>
              <a:rPr lang="" altLang="en-US" dirty="0"/>
              <a:t> </a:t>
            </a:r>
            <a:r>
              <a:rPr lang="en-US" altLang="en-GB" dirty="0"/>
              <a:t>The students listening to the teacher's instructions are the receivers.</a:t>
            </a:r>
            <a:endParaRPr lang="en-US" altLang="en-GB" b="1" dirty="0" smtClean="0"/>
          </a:p>
          <a:p>
            <a:pPr marL="0" indent="0">
              <a:buNone/>
            </a:pPr>
            <a:r>
              <a:rPr lang="en-GB" altLang="en-GB" b="1" dirty="0" smtClean="0"/>
              <a:t>6. </a:t>
            </a:r>
            <a:r>
              <a:rPr lang="en-GB" altLang="en-GB" b="1" dirty="0" smtClean="0"/>
              <a:t>Decoding; </a:t>
            </a:r>
            <a:r>
              <a:rPr lang="en-GB" altLang="en-GB" dirty="0" smtClean="0"/>
              <a:t>This is the step where the receiver interprets and makes sense of the message. Therefore when you take in words or signs and translate them into a clear thought in your mind, you are decoding.</a:t>
            </a:r>
            <a:endParaRPr lang="en-US" altLang="en-GB" dirty="0" smtClean="0"/>
          </a:p>
          <a:p>
            <a:pPr marL="0" indent="0">
              <a:buNone/>
            </a:pPr>
            <a:r>
              <a:rPr lang="en-US" altLang="en-GB" b="1" dirty="0"/>
              <a:t>7</a:t>
            </a:r>
            <a:r>
              <a:rPr lang="en-US" altLang="en-GB" b="1" dirty="0" smtClean="0"/>
              <a:t>. Feedback;</a:t>
            </a:r>
            <a:r>
              <a:rPr lang="" altLang="en-US" dirty="0"/>
              <a:t> </a:t>
            </a:r>
            <a:r>
              <a:rPr lang="en-US" altLang="en-US" dirty="0"/>
              <a:t>I</a:t>
            </a:r>
            <a:r>
              <a:rPr lang="en-US" altLang="en-GB" dirty="0" smtClean="0"/>
              <a:t>s </a:t>
            </a:r>
            <a:r>
              <a:rPr lang="en-US" altLang="en-GB" dirty="0"/>
              <a:t>the</a:t>
            </a:r>
            <a:r>
              <a:rPr lang="" altLang="en-US" dirty="0"/>
              <a:t> </a:t>
            </a:r>
            <a:r>
              <a:rPr lang="en-US" altLang="en-GB" dirty="0"/>
              <a:t>response given by the receiver after receiving and understanding the message. It helps the sender know whether the message was understood.</a:t>
            </a:r>
          </a:p>
          <a:p>
            <a:pPr marL="0" indent="0">
              <a:buNone/>
            </a:pPr>
            <a:r>
              <a:rPr lang="en-US" altLang="en-GB" b="1" dirty="0"/>
              <a:t>Example:</a:t>
            </a:r>
            <a:r>
              <a:rPr lang="" altLang="en-US" b="1" dirty="0"/>
              <a:t> </a:t>
            </a:r>
            <a:r>
              <a:rPr lang="en-US" altLang="en-GB" dirty="0"/>
              <a:t>A student saying, "Yes, I understand," is feedback to the teacher.</a:t>
            </a:r>
          </a:p>
          <a:p>
            <a:pPr marL="0" indent="0">
              <a:buNone/>
            </a:pPr>
            <a:r>
              <a:rPr lang="en-US" altLang="en-GB" dirty="0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983615"/>
          </a:xfrm>
        </p:spPr>
        <p:txBody>
          <a:bodyPr>
            <a:normAutofit/>
          </a:bodyPr>
          <a:lstStyle/>
          <a:p>
            <a:pPr algn="ctr"/>
            <a:r>
              <a:rPr lang="en-US" altLang="en-GB" b="1" dirty="0" smtClean="0"/>
              <a:t> Noise</a:t>
            </a:r>
            <a:endParaRPr lang="en-US" alt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en-GB"/>
              <a:t>   Noise</a:t>
            </a:r>
            <a:r>
              <a:rPr lang="" altLang="en-US"/>
              <a:t> </a:t>
            </a:r>
            <a:r>
              <a:rPr lang="en-US" altLang="en-GB"/>
              <a:t>is anything that</a:t>
            </a:r>
            <a:r>
              <a:rPr lang="" altLang="en-US"/>
              <a:t> </a:t>
            </a:r>
            <a:r>
              <a:rPr lang="en-US" altLang="en-GB"/>
              <a:t>interferes with or disturbs the communication process, making it difficult for the receiver to understand the message correctly.</a:t>
            </a:r>
          </a:p>
          <a:p>
            <a:pPr marL="0" indent="0">
              <a:buNone/>
            </a:pPr>
            <a:r>
              <a:rPr lang="en-US" altLang="en-GB" b="1"/>
              <a:t>Examples of noise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 b="1"/>
              <a:t>Physical noise</a:t>
            </a:r>
            <a:r>
              <a:rPr lang="en-US" altLang="en-GB"/>
              <a:t>:</a:t>
            </a:r>
            <a:r>
              <a:rPr lang="" altLang="en-US"/>
              <a:t> </a:t>
            </a:r>
            <a:r>
              <a:rPr lang="en-US" altLang="en-GB"/>
              <a:t>Loud music, traffic, or people talking during a conversation.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 b="1"/>
              <a:t>Psychological noise</a:t>
            </a:r>
            <a:r>
              <a:rPr lang="en-US" altLang="en-GB"/>
              <a:t>:</a:t>
            </a:r>
            <a:r>
              <a:rPr lang="" altLang="en-US"/>
              <a:t> </a:t>
            </a:r>
            <a:r>
              <a:rPr lang="en-US" altLang="en-GB"/>
              <a:t>Stress, worry, anger, or lack of concentration.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 b="1"/>
              <a:t>Technical noise</a:t>
            </a:r>
            <a:r>
              <a:rPr lang="en-US" altLang="en-GB"/>
              <a:t>:</a:t>
            </a:r>
            <a:r>
              <a:rPr lang="" altLang="en-US"/>
              <a:t> </a:t>
            </a:r>
            <a:r>
              <a:rPr lang="en-US" altLang="en-GB"/>
              <a:t>Poor phone connection, microphone problems, or internet interruptions.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/>
              <a:t></a:t>
            </a:r>
            <a:r>
              <a:rPr lang="en-US" altLang="en-GB" b="1"/>
              <a:t>Language noise</a:t>
            </a:r>
            <a:r>
              <a:rPr lang="en-US" altLang="en-GB"/>
              <a:t>:</a:t>
            </a:r>
            <a:r>
              <a:rPr lang="" altLang="en-US"/>
              <a:t> </a:t>
            </a:r>
            <a:r>
              <a:rPr lang="en-US" altLang="en-GB"/>
              <a:t>Difficult words, unfamiliar language, or unclear expressions.</a:t>
            </a:r>
          </a:p>
          <a:p>
            <a:pPr marL="0" indent="0">
              <a:buNone/>
            </a:pPr>
            <a:r>
              <a:rPr lang="en-US" altLang="en-GB" b="1"/>
              <a:t>Example</a:t>
            </a:r>
            <a:r>
              <a:rPr lang="en-US" altLang="en-GB"/>
              <a:t>:</a:t>
            </a:r>
            <a:r>
              <a:rPr lang="" altLang="en-US"/>
              <a:t> </a:t>
            </a:r>
            <a:r>
              <a:rPr lang="en-US" altLang="en-GB"/>
              <a:t>If a teacher is explaining a lesson while students are making a lot of noise, the students may not hear or understand the message properly. The classroom noise is therefore a form of</a:t>
            </a:r>
            <a:r>
              <a:rPr lang="" altLang="en-US"/>
              <a:t> </a:t>
            </a:r>
            <a:r>
              <a:rPr lang="en-US" altLang="en-GB"/>
              <a:t>noise in communication.</a:t>
            </a:r>
          </a:p>
          <a:p>
            <a:pPr marL="0" indent="0">
              <a:buNone/>
            </a:pPr>
            <a:r>
              <a:rPr lang="en-US" altLang="en-GB"/>
              <a:t>In simple terms,</a:t>
            </a:r>
            <a:r>
              <a:rPr lang="" altLang="en-US"/>
              <a:t> </a:t>
            </a:r>
            <a:r>
              <a:rPr lang="en-US" altLang="en-GB"/>
              <a:t>noise is any barrier that prevents a message from being communicated or understood effectively.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111250"/>
          </a:xfrm>
        </p:spPr>
        <p:txBody>
          <a:bodyPr>
            <a:normAutofit/>
          </a:bodyPr>
          <a:lstStyle/>
          <a:p>
            <a:pPr algn="ctr"/>
            <a:r>
              <a:rPr lang="en-US" altLang="en-GB" b="1" dirty="0" smtClean="0"/>
              <a:t> </a:t>
            </a:r>
            <a:r>
              <a:rPr lang="en-US" altLang="en-GB" b="1" dirty="0"/>
              <a:t>T</a:t>
            </a:r>
            <a:r>
              <a:rPr lang="en-US" altLang="en-GB" b="1" dirty="0" smtClean="0"/>
              <a:t>ypes </a:t>
            </a:r>
            <a:r>
              <a:rPr lang="en-US" altLang="en-GB" b="1" dirty="0"/>
              <a:t>of communication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29385"/>
            <a:ext cx="10972800" cy="4698365"/>
          </a:xfrm>
        </p:spPr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GB" b="1" dirty="0"/>
              <a:t> One-way </a:t>
            </a:r>
            <a:r>
              <a:rPr lang="en-US" altLang="en-GB" b="1" dirty="0" smtClean="0"/>
              <a:t>communication</a:t>
            </a:r>
            <a:r>
              <a:rPr lang="en-US" dirty="0" smtClean="0"/>
              <a:t>: </a:t>
            </a:r>
            <a:r>
              <a:rPr lang="en-US" altLang="en-GB" dirty="0" smtClean="0"/>
              <a:t>Information </a:t>
            </a:r>
            <a:r>
              <a:rPr lang="en-US" altLang="en-GB" dirty="0"/>
              <a:t>moves in only one direction, from the sender to the receiver. There is little or no opportunity for the receiver to respond.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GB" b="1" dirty="0"/>
              <a:t> Two-way </a:t>
            </a:r>
            <a:r>
              <a:rPr lang="en-US" altLang="en-GB" b="1" dirty="0" smtClean="0"/>
              <a:t>communication (</a:t>
            </a:r>
            <a:r>
              <a:rPr lang="en-US" altLang="en-GB" dirty="0"/>
              <a:t>Interactive </a:t>
            </a:r>
            <a:r>
              <a:rPr lang="en-US" altLang="en-GB" dirty="0" smtClean="0"/>
              <a:t>communication</a:t>
            </a:r>
            <a:r>
              <a:rPr lang="en-US" altLang="en-GB" b="1" dirty="0" smtClean="0"/>
              <a:t>): </a:t>
            </a:r>
            <a:r>
              <a:rPr lang="en-US" altLang="en-GB" dirty="0"/>
              <a:t>Information moves between the sender and receiver, allowing the receiver to respond or ask questions</a:t>
            </a:r>
            <a:r>
              <a:rPr lang="en-US" altLang="en-GB" dirty="0" smtClean="0"/>
              <a:t>.</a:t>
            </a:r>
            <a:r>
              <a:rPr lang="en-US" altLang="en-GB" b="1" dirty="0" smtClean="0"/>
              <a:t> </a:t>
            </a:r>
            <a:r>
              <a:rPr lang="en-US" altLang="en-GB" dirty="0"/>
              <a:t>Both people communicate by taking turns sending messages and giving feedback</a:t>
            </a:r>
            <a:r>
              <a:rPr lang="en-US" altLang="en-GB" dirty="0" smtClean="0"/>
              <a:t>.</a:t>
            </a:r>
            <a:endParaRPr lang="en-US" alt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GB" b="1" dirty="0"/>
              <a:t>Transactional communication: </a:t>
            </a:r>
            <a:r>
              <a:rPr lang="en-US" altLang="en-GB" dirty="0"/>
              <a:t>Communication happens continuously, with both people sending and receiving messages at the same time. It also involves verbal and non-verbal signals.</a:t>
            </a:r>
          </a:p>
          <a:p>
            <a:pPr marL="0" indent="0">
              <a:buNone/>
            </a:pPr>
            <a:endParaRPr lang="en-US" alt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984885"/>
          </a:xfrm>
        </p:spPr>
        <p:txBody>
          <a:bodyPr>
            <a:normAutofit/>
          </a:bodyPr>
          <a:lstStyle/>
          <a:p>
            <a:pPr algn="ctr"/>
            <a:r>
              <a:rPr lang="en-US" altLang="en-GB" b="1" dirty="0" smtClean="0"/>
              <a:t> </a:t>
            </a:r>
            <a:r>
              <a:rPr lang="en-US" altLang="en-GB" b="1" dirty="0"/>
              <a:t>B</a:t>
            </a:r>
            <a:r>
              <a:rPr lang="en-US" altLang="en-GB" b="1" dirty="0" smtClean="0"/>
              <a:t>arriers </a:t>
            </a:r>
            <a:r>
              <a:rPr lang="en-US" altLang="en-GB" b="1" dirty="0"/>
              <a:t>of effective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GB" b="1" dirty="0"/>
              <a:t>1. Language Barrier</a:t>
            </a:r>
          </a:p>
          <a:p>
            <a:pPr marL="0" indent="0">
              <a:buNone/>
            </a:pPr>
            <a:r>
              <a:rPr lang="en-US" altLang="en-GB" dirty="0"/>
              <a:t>This occurs when people use different languages or when difficult words, technical terms, or unfamiliar vocabulary are used.</a:t>
            </a:r>
          </a:p>
          <a:p>
            <a:pPr marL="0" indent="0">
              <a:buNone/>
            </a:pPr>
            <a:r>
              <a:rPr lang="en-US" altLang="en-GB" b="1" dirty="0"/>
              <a:t>2. Physical Barriers</a:t>
            </a:r>
          </a:p>
          <a:p>
            <a:pPr marL="0" indent="0">
              <a:buNone/>
            </a:pPr>
            <a:r>
              <a:rPr lang="en-US" altLang="en-GB" dirty="0"/>
              <a:t>These are physical conditions that interfere with communication.</a:t>
            </a:r>
          </a:p>
          <a:p>
            <a:pPr marL="0" indent="0">
              <a:buNone/>
            </a:pPr>
            <a:r>
              <a:rPr lang="en-US" altLang="en-GB" b="1" dirty="0"/>
              <a:t>Examples:</a:t>
            </a:r>
            <a:r>
              <a:rPr lang="" altLang="en-US" dirty="0"/>
              <a:t> </a:t>
            </a:r>
            <a:r>
              <a:rPr lang="en-US" altLang="en-GB" dirty="0"/>
              <a:t>Noise, distance, poor lighting, closed doors, or a poor telephone connection.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93700"/>
            <a:ext cx="10972800" cy="61062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GB" sz="2000" dirty="0"/>
              <a:t>3.</a:t>
            </a:r>
            <a:r>
              <a:rPr lang="en-US" altLang="en-GB" sz="2000" b="1" dirty="0"/>
              <a:t> Psychological Barriers</a:t>
            </a:r>
          </a:p>
          <a:p>
            <a:pPr marL="0" indent="0">
              <a:buNone/>
            </a:pPr>
            <a:r>
              <a:rPr lang="en-US" altLang="en-GB" sz="2000" dirty="0"/>
              <a:t>These are emotional or mental conditions that affect how a person communicates or understands information.</a:t>
            </a:r>
          </a:p>
          <a:p>
            <a:pPr marL="0" indent="0">
              <a:buNone/>
            </a:pPr>
            <a:r>
              <a:rPr lang="en-US" altLang="en-GB" sz="2000" b="1" dirty="0"/>
              <a:t>Examples:</a:t>
            </a:r>
            <a:r>
              <a:rPr lang="" altLang="en-US" sz="2000" dirty="0"/>
              <a:t> </a:t>
            </a:r>
            <a:r>
              <a:rPr lang="en-US" altLang="en-GB" sz="2000" dirty="0"/>
              <a:t>Stress, fear, anger, anxiety, and lack of concentration.</a:t>
            </a:r>
          </a:p>
          <a:p>
            <a:pPr marL="0" indent="0">
              <a:buNone/>
            </a:pPr>
            <a:r>
              <a:rPr lang="en-US" altLang="en-GB" sz="2000" b="1" dirty="0"/>
              <a:t>4. Cultural Barriers</a:t>
            </a:r>
          </a:p>
          <a:p>
            <a:pPr marL="0" indent="0">
              <a:buNone/>
            </a:pPr>
            <a:r>
              <a:rPr lang="en-US" altLang="en-GB" sz="2000" dirty="0"/>
              <a:t>People from different cultures may have different beliefs, values, customs, and ways of expressing themselves.</a:t>
            </a:r>
          </a:p>
          <a:p>
            <a:pPr marL="0" indent="0">
              <a:buNone/>
            </a:pPr>
            <a:r>
              <a:rPr lang="en-US" altLang="en-GB" sz="2000" dirty="0"/>
              <a:t>Example:</a:t>
            </a:r>
            <a:r>
              <a:rPr lang="" altLang="en-US" sz="2000" dirty="0"/>
              <a:t> </a:t>
            </a:r>
            <a:r>
              <a:rPr lang="en-US" altLang="en-GB" sz="2000" dirty="0"/>
              <a:t>A gesture that is acceptable in one culture may be considered offensive in another.</a:t>
            </a:r>
          </a:p>
          <a:p>
            <a:pPr marL="0" indent="0">
              <a:buNone/>
            </a:pPr>
            <a:r>
              <a:rPr lang="en-US" altLang="en-GB" sz="2000" b="1" dirty="0"/>
              <a:t>5. Poor Listening</a:t>
            </a:r>
          </a:p>
          <a:p>
            <a:pPr marL="0" indent="0">
              <a:buNone/>
            </a:pPr>
            <a:r>
              <a:rPr lang="en-US" altLang="en-GB" sz="2000" dirty="0"/>
              <a:t>Communication becomes ineffective when the receiver does not pay attention or listen carefully to the sender.</a:t>
            </a:r>
          </a:p>
          <a:p>
            <a:pPr marL="0" indent="0">
              <a:buNone/>
            </a:pPr>
            <a:r>
              <a:rPr lang="en-US" altLang="en-GB" sz="2000" dirty="0"/>
              <a:t>Example:</a:t>
            </a:r>
            <a:r>
              <a:rPr lang="" altLang="en-US" sz="2000" dirty="0"/>
              <a:t> </a:t>
            </a:r>
            <a:r>
              <a:rPr lang="en-US" altLang="en-GB" sz="2000" dirty="0"/>
              <a:t>A student using a phone while the teacher is explaining an important topic.</a:t>
            </a:r>
          </a:p>
          <a:p>
            <a:pPr marL="0" indent="0">
              <a:buNone/>
            </a:pPr>
            <a:r>
              <a:rPr lang="en-US" altLang="en-GB" sz="2000" b="1" dirty="0"/>
              <a:t>6. Lack of Feedback</a:t>
            </a:r>
          </a:p>
          <a:p>
            <a:pPr marL="0" indent="0">
              <a:buNone/>
            </a:pPr>
            <a:r>
              <a:rPr lang="en-US" altLang="en-GB" sz="2000" dirty="0"/>
              <a:t>When the receiver does not respond, the sender may not know whether the message has been understood.</a:t>
            </a:r>
          </a:p>
          <a:p>
            <a:pPr marL="0" indent="0">
              <a:buNone/>
            </a:pPr>
            <a:r>
              <a:rPr lang="en-US" altLang="en-GB" sz="2000" dirty="0"/>
              <a:t>Example:</a:t>
            </a:r>
            <a:r>
              <a:rPr lang="" altLang="en-US" sz="2000" dirty="0"/>
              <a:t> </a:t>
            </a:r>
            <a:r>
              <a:rPr lang="en-US" altLang="en-GB" sz="2000" dirty="0"/>
              <a:t>An employee receives instructions but does not ask questions or confirm understanding.</a:t>
            </a:r>
          </a:p>
          <a:p>
            <a:pPr marL="0" indent="0">
              <a:buNone/>
            </a:pPr>
            <a:r>
              <a:rPr lang="en-US" altLang="en-GB" sz="20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46710"/>
            <a:ext cx="10972800" cy="578104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en-GB" b="1" dirty="0"/>
              <a:t>7</a:t>
            </a:r>
            <a:r>
              <a:rPr lang="en-US" altLang="en-GB" b="1" dirty="0" smtClean="0"/>
              <a:t>. </a:t>
            </a:r>
            <a:r>
              <a:rPr lang="en-US" altLang="en-GB" b="1" dirty="0"/>
              <a:t>Wrong Choice of Medium</a:t>
            </a:r>
          </a:p>
          <a:p>
            <a:pPr marL="0" indent="0">
              <a:buNone/>
            </a:pPr>
            <a:r>
              <a:rPr lang="en-US" altLang="en-GB" dirty="0"/>
              <a:t>   Using an inappropriate communication channel can make the message less effective.</a:t>
            </a:r>
          </a:p>
          <a:p>
            <a:pPr marL="0" indent="0">
              <a:buNone/>
            </a:pPr>
            <a:r>
              <a:rPr lang="en-US" altLang="en-GB" dirty="0"/>
              <a:t>Example:</a:t>
            </a:r>
            <a:r>
              <a:rPr lang="" altLang="en-US" dirty="0"/>
              <a:t> </a:t>
            </a:r>
            <a:r>
              <a:rPr lang="en-US" altLang="en-GB" dirty="0"/>
              <a:t>Sending a complicated issue through a short text message when a face-to-face discussion would be better.</a:t>
            </a:r>
          </a:p>
          <a:p>
            <a:pPr marL="0" indent="0">
              <a:buNone/>
            </a:pPr>
            <a:r>
              <a:rPr lang="en-US" altLang="en-GB" b="1" dirty="0"/>
              <a:t>8</a:t>
            </a:r>
            <a:r>
              <a:rPr lang="en-US" altLang="en-GB" b="1" dirty="0" smtClean="0"/>
              <a:t>. </a:t>
            </a:r>
            <a:r>
              <a:rPr lang="en-US" altLang="en-GB" b="1" dirty="0"/>
              <a:t>Lack of Clarity</a:t>
            </a:r>
          </a:p>
          <a:p>
            <a:pPr marL="0" indent="0">
              <a:buNone/>
            </a:pPr>
            <a:r>
              <a:rPr lang="en-US" altLang="en-GB" dirty="0"/>
              <a:t>   A message that is vague, incomplete, or confusing can easily be misunderstood.</a:t>
            </a:r>
          </a:p>
          <a:p>
            <a:pPr marL="0" indent="0">
              <a:buNone/>
            </a:pPr>
            <a:r>
              <a:rPr lang="en-US" altLang="en-GB" dirty="0"/>
              <a:t>Example:</a:t>
            </a:r>
            <a:r>
              <a:rPr lang="" altLang="en-US" dirty="0"/>
              <a:t> </a:t>
            </a:r>
            <a:r>
              <a:rPr lang="en-US" altLang="en-GB" dirty="0"/>
              <a:t>Saying, "Do it soon," without explaining what should be done or when it should be completed.</a:t>
            </a:r>
          </a:p>
          <a:p>
            <a:pPr marL="0" indent="0">
              <a:buNone/>
            </a:pPr>
            <a:r>
              <a:rPr lang="en-US" altLang="en-GB" b="1" dirty="0"/>
              <a:t>9</a:t>
            </a:r>
            <a:r>
              <a:rPr lang="en-US" altLang="en-GB" b="1" dirty="0" smtClean="0"/>
              <a:t>. </a:t>
            </a:r>
            <a:r>
              <a:rPr lang="en-US" altLang="en-GB" b="1" dirty="0"/>
              <a:t>Noise</a:t>
            </a:r>
          </a:p>
          <a:p>
            <a:pPr marL="0" indent="0">
              <a:buNone/>
            </a:pPr>
            <a:r>
              <a:rPr lang="en-US" altLang="en-GB" dirty="0"/>
              <a:t>  Noise is anything that interferes with the communication process.</a:t>
            </a:r>
          </a:p>
          <a:p>
            <a:pPr marL="0" indent="0">
              <a:buNone/>
            </a:pPr>
            <a:r>
              <a:rPr lang="en-US" altLang="en-GB" dirty="0"/>
              <a:t>Example:</a:t>
            </a:r>
            <a:r>
              <a:rPr lang="" altLang="en-US" dirty="0"/>
              <a:t> </a:t>
            </a:r>
            <a:r>
              <a:rPr lang="en-US" altLang="en-GB" dirty="0"/>
              <a:t>Loud music or people talking while someone is trying to give instructions.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854075"/>
          </a:xfrm>
        </p:spPr>
        <p:txBody>
          <a:bodyPr>
            <a:normAutofit/>
          </a:bodyPr>
          <a:lstStyle/>
          <a:p>
            <a:pPr algn="ctr"/>
            <a:r>
              <a:rPr lang="en-US" altLang="en-GB" b="1" dirty="0" smtClean="0"/>
              <a:t> </a:t>
            </a:r>
            <a:r>
              <a:rPr lang="en-US" altLang="en-GB" b="1" dirty="0"/>
              <a:t>Communication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GB"/>
              <a:t> Communication networks</a:t>
            </a:r>
            <a:r>
              <a:rPr lang="" altLang="en-US"/>
              <a:t> </a:t>
            </a:r>
            <a:r>
              <a:rPr lang="en-US" altLang="en-GB"/>
              <a:t>are the</a:t>
            </a:r>
            <a:r>
              <a:rPr lang="" altLang="en-US"/>
              <a:t> </a:t>
            </a:r>
            <a:r>
              <a:rPr lang="en-US" altLang="en-GB"/>
              <a:t>patterns or channels through which information flows between people or groups within an organization or other setting.</a:t>
            </a:r>
          </a:p>
          <a:p>
            <a:pPr marL="0" indent="0">
              <a:buNone/>
            </a:pPr>
            <a:r>
              <a:rPr lang="en-US" altLang="en-GB"/>
              <a:t>They show</a:t>
            </a:r>
            <a:r>
              <a:rPr lang="" altLang="en-US"/>
              <a:t> </a:t>
            </a:r>
            <a:r>
              <a:rPr lang="en-US" altLang="en-GB"/>
              <a:t>who communicates with whom and how information moves</a:t>
            </a:r>
            <a:r>
              <a:rPr lang="" altLang="en-US"/>
              <a:t> </a:t>
            </a:r>
            <a:r>
              <a:rPr lang="en-US" altLang="en-GB"/>
              <a:t>from one person to another.</a:t>
            </a:r>
          </a:p>
          <a:p>
            <a:pPr marL="0" indent="0">
              <a:buNone/>
            </a:pP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885190"/>
          </a:xfrm>
        </p:spPr>
        <p:txBody>
          <a:bodyPr/>
          <a:lstStyle/>
          <a:p>
            <a:r>
              <a:rPr lang="en-US" altLang="en-GB" b="1" dirty="0">
                <a:sym typeface="+mn-ea"/>
              </a:rPr>
              <a:t>Common types of communication networks</a:t>
            </a:r>
            <a:endParaRPr lang="en-GB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GB" sz="2400">
                <a:sym typeface="+mn-ea"/>
              </a:rPr>
              <a:t>1.</a:t>
            </a:r>
            <a:r>
              <a:rPr lang="en-US" altLang="en-GB" sz="2400" b="1">
                <a:sym typeface="+mn-ea"/>
              </a:rPr>
              <a:t>Chain network:</a:t>
            </a:r>
            <a:r>
              <a:rPr lang="en-US" altLang="en-US" sz="2400" b="1">
                <a:sym typeface="+mn-ea"/>
              </a:rPr>
              <a:t> </a:t>
            </a:r>
            <a:r>
              <a:rPr lang="en-US" altLang="en-GB" sz="2400">
                <a:sym typeface="+mn-ea"/>
              </a:rPr>
              <a:t> Information passes from one person to the next in a sequence.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 b="1">
                <a:sym typeface="+mn-ea"/>
              </a:rPr>
              <a:t>Example</a:t>
            </a:r>
            <a:r>
              <a:rPr lang="en-US" altLang="en-GB" sz="2400">
                <a:sym typeface="+mn-ea"/>
              </a:rPr>
              <a:t>:</a:t>
            </a:r>
            <a:r>
              <a:rPr lang="en-US" altLang="en-US" sz="2400">
                <a:sym typeface="+mn-ea"/>
              </a:rPr>
              <a:t> </a:t>
            </a:r>
            <a:r>
              <a:rPr lang="en-US" altLang="en-GB" sz="2400">
                <a:sym typeface="+mn-ea"/>
              </a:rPr>
              <a:t>Manager </a:t>
            </a:r>
            <a:r>
              <a:rPr lang="en-US" altLang="en-US" sz="2400">
                <a:sym typeface="+mn-ea"/>
              </a:rPr>
              <a:t>→</a:t>
            </a:r>
            <a:r>
              <a:rPr lang="en-US" altLang="en-GB" sz="2400">
                <a:sym typeface="+mn-ea"/>
              </a:rPr>
              <a:t> Supervisor </a:t>
            </a:r>
            <a:r>
              <a:rPr lang="en-US" altLang="en-US" sz="2400">
                <a:sym typeface="+mn-ea"/>
              </a:rPr>
              <a:t>→</a:t>
            </a:r>
            <a:r>
              <a:rPr lang="en-US" altLang="en-GB" sz="2400">
                <a:sym typeface="+mn-ea"/>
              </a:rPr>
              <a:t> Employee.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 b="1">
                <a:sym typeface="+mn-ea"/>
              </a:rPr>
              <a:t>2.Wheel network</a:t>
            </a:r>
            <a:r>
              <a:rPr lang="en-US" altLang="en-US" sz="2400">
                <a:sym typeface="+mn-ea"/>
              </a:rPr>
              <a:t> </a:t>
            </a:r>
            <a:r>
              <a:rPr lang="en-US" sz="2400">
                <a:sym typeface="+mn-ea"/>
              </a:rPr>
              <a:t>:</a:t>
            </a:r>
            <a:r>
              <a:rPr lang="en-US" altLang="en-GB" sz="2400">
                <a:sym typeface="+mn-ea"/>
              </a:rPr>
              <a:t> One central person communicates with all the other members.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>
                <a:sym typeface="+mn-ea"/>
              </a:rPr>
              <a:t>Example:</a:t>
            </a:r>
            <a:r>
              <a:rPr lang="en-US" altLang="en-US" sz="2400">
                <a:sym typeface="+mn-ea"/>
              </a:rPr>
              <a:t> </a:t>
            </a:r>
            <a:r>
              <a:rPr lang="en-US" altLang="en-GB" sz="2400">
                <a:sym typeface="+mn-ea"/>
              </a:rPr>
              <a:t>A manager giving instructions directly to several employees.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 b="1">
                <a:sym typeface="+mn-ea"/>
              </a:rPr>
              <a:t>3.Circle network</a:t>
            </a:r>
            <a:r>
              <a:rPr lang="en-US" altLang="en-US" sz="2400">
                <a:sym typeface="+mn-ea"/>
              </a:rPr>
              <a:t> </a:t>
            </a:r>
            <a:r>
              <a:rPr lang="en-US" sz="2400">
                <a:sym typeface="+mn-ea"/>
              </a:rPr>
              <a:t>:</a:t>
            </a:r>
            <a:r>
              <a:rPr lang="en-US" altLang="en-GB" sz="2400">
                <a:sym typeface="+mn-ea"/>
              </a:rPr>
              <a:t> Each person communicates with the person next to them, forming a circle.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 b="1">
                <a:sym typeface="+mn-ea"/>
              </a:rPr>
              <a:t>4.All-channel network;</a:t>
            </a:r>
            <a:r>
              <a:rPr lang="en-US" altLang="en-GB" sz="2400">
                <a:sym typeface="+mn-ea"/>
              </a:rPr>
              <a:t> Everyone can communicate directly with everyone else.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>
                <a:sym typeface="+mn-ea"/>
              </a:rPr>
              <a:t>Example:</a:t>
            </a:r>
            <a:r>
              <a:rPr lang="en-US" altLang="en-US" sz="2400">
                <a:sym typeface="+mn-ea"/>
              </a:rPr>
              <a:t> </a:t>
            </a:r>
            <a:r>
              <a:rPr lang="en-US" altLang="en-GB" sz="2400">
                <a:sym typeface="+mn-ea"/>
              </a:rPr>
              <a:t>Members of a team discussing a problem together.</a:t>
            </a:r>
            <a:endParaRPr lang="en-US" altLang="en-GB" sz="2400"/>
          </a:p>
          <a:p>
            <a:pPr marL="0" indent="0">
              <a:buNone/>
            </a:pPr>
            <a:r>
              <a:rPr lang="en-US" altLang="en-GB" sz="2400" b="1">
                <a:sym typeface="+mn-ea"/>
              </a:rPr>
              <a:t>5.Y network</a:t>
            </a:r>
            <a:r>
              <a:rPr lang="en-US" altLang="en-US" sz="2400" b="1">
                <a:sym typeface="+mn-ea"/>
              </a:rPr>
              <a:t> </a:t>
            </a:r>
            <a:r>
              <a:rPr lang="en-US" sz="2400">
                <a:sym typeface="+mn-ea"/>
              </a:rPr>
              <a:t>;</a:t>
            </a:r>
            <a:r>
              <a:rPr lang="en-US" altLang="en-GB" sz="2400">
                <a:sym typeface="+mn-ea"/>
              </a:rPr>
              <a:t>Communication flows through a central person and then branches to different members.</a:t>
            </a:r>
            <a:endParaRPr lang="en-US" altLang="en-GB" sz="2400"/>
          </a:p>
          <a:p>
            <a:endParaRPr lang="en-GB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984885"/>
          </a:xfrm>
        </p:spPr>
        <p:txBody>
          <a:bodyPr/>
          <a:lstStyle/>
          <a:p>
            <a:pPr algn="ctr"/>
            <a:r>
              <a:rPr lang="en-GB" sz="3200" b="1" dirty="0" smtClean="0"/>
              <a:t>Perspectives in which communication network occurs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49375"/>
            <a:ext cx="10972800" cy="4970145"/>
          </a:xfrm>
        </p:spPr>
        <p:txBody>
          <a:bodyPr>
            <a:normAutofit fontScale="75000" lnSpcReduction="20000"/>
          </a:bodyPr>
          <a:lstStyle/>
          <a:p>
            <a:pPr marL="0" indent="0">
              <a:buNone/>
            </a:pPr>
            <a:r>
              <a:rPr lang="en-US" dirty="0"/>
              <a:t> The two perspectives in which communication networks occur are commonly described as small-group networks and formalized/formal networks.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b="1" dirty="0" smtClean="0"/>
              <a:t>S</a:t>
            </a:r>
            <a:r>
              <a:rPr lang="en-US" b="1" dirty="0" smtClean="0"/>
              <a:t>mall-group</a:t>
            </a:r>
            <a:r>
              <a:rPr lang="en-US" dirty="0" smtClean="0"/>
              <a:t> </a:t>
            </a:r>
            <a:r>
              <a:rPr lang="en-US" b="1" dirty="0" smtClean="0"/>
              <a:t>communication </a:t>
            </a:r>
            <a:r>
              <a:rPr lang="en-US" b="1" dirty="0"/>
              <a:t>network</a:t>
            </a:r>
          </a:p>
          <a:p>
            <a:pPr marL="0" indent="0">
              <a:buNone/>
            </a:pPr>
            <a:r>
              <a:rPr lang="en-US" dirty="0" smtClean="0"/>
              <a:t>     This </a:t>
            </a:r>
            <a:r>
              <a:rPr lang="en-US" dirty="0"/>
              <a:t>occurs when a small number of people communicate with one another to share information, solve problems, or make decisions.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b="1" dirty="0" smtClean="0"/>
              <a:t>   Example</a:t>
            </a:r>
            <a:r>
              <a:rPr lang="en-US" dirty="0"/>
              <a:t>: A group of five students discussing how to complete an </a:t>
            </a:r>
            <a:r>
              <a:rPr lang="en-US" dirty="0" smtClean="0"/>
              <a:t>assignment.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b="1" dirty="0" smtClean="0"/>
              <a:t>Formalized (</a:t>
            </a:r>
            <a:r>
              <a:rPr lang="en-US" b="1" dirty="0" err="1" smtClean="0"/>
              <a:t>formalcommunication</a:t>
            </a:r>
            <a:r>
              <a:rPr lang="en-US" b="1" dirty="0" smtClean="0"/>
              <a:t> </a:t>
            </a:r>
            <a:r>
              <a:rPr lang="en-US" b="1" dirty="0"/>
              <a:t>network</a:t>
            </a:r>
          </a:p>
          <a:p>
            <a:pPr marL="0" indent="0">
              <a:buNone/>
            </a:pPr>
            <a:r>
              <a:rPr lang="en-US" dirty="0" smtClean="0"/>
              <a:t>     This </a:t>
            </a:r>
            <a:r>
              <a:rPr lang="en-US" dirty="0"/>
              <a:t>is a structured communication system established by an organization, showing how information should flow between different people, departments, or levels of authority.</a:t>
            </a:r>
          </a:p>
          <a:p>
            <a:pPr marL="0" indent="0">
              <a:buNone/>
            </a:pPr>
            <a:r>
              <a:rPr lang="en-US" b="1" dirty="0"/>
              <a:t>  Example</a:t>
            </a:r>
            <a:r>
              <a:rPr lang="en-US" dirty="0"/>
              <a:t>: In an organization, information may flow from the manager → supervisor → employees.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4968"/>
            <a:ext cx="10815851" cy="1105468"/>
          </a:xfrm>
        </p:spPr>
        <p:txBody>
          <a:bodyPr>
            <a:normAutofit/>
          </a:bodyPr>
          <a:lstStyle/>
          <a:p>
            <a:pPr algn="ctr"/>
            <a:r>
              <a:rPr lang="en-US" sz="4445" b="1" dirty="0"/>
              <a:t>T</a:t>
            </a:r>
            <a:r>
              <a:rPr lang="en-US" sz="4445" b="1" dirty="0" smtClean="0"/>
              <a:t>ypes of Networks</a:t>
            </a:r>
            <a:endParaRPr lang="en-US" sz="4445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36407"/>
            <a:ext cx="10515600" cy="4351338"/>
          </a:xfrm>
        </p:spPr>
        <p:txBody>
          <a:bodyPr>
            <a:normAutofit fontScale="975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/>
              <a:t>Circle </a:t>
            </a:r>
            <a:r>
              <a:rPr lang="en-US" b="1" dirty="0"/>
              <a:t>Network.</a:t>
            </a:r>
            <a:r>
              <a:rPr lang="en-US" dirty="0"/>
              <a:t> Refers to a communication pattern where each person communicates with the person next to them, forming a circle. Information can move around the group in either direction.</a:t>
            </a:r>
          </a:p>
          <a:p>
            <a:pPr marL="0" indent="0">
              <a:buNone/>
            </a:pPr>
            <a:r>
              <a:rPr lang="en-US" b="1" dirty="0" smtClean="0"/>
              <a:t>Example</a:t>
            </a:r>
            <a:r>
              <a:rPr lang="en-US" b="1" dirty="0"/>
              <a:t>:</a:t>
            </a:r>
            <a:r>
              <a:rPr lang="en-US" dirty="0"/>
              <a:t> A group of four workers where each worker communicates with the person beside them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-635"/>
            <a:ext cx="10972800" cy="6128385"/>
          </a:xfrm>
        </p:spPr>
        <p:txBody>
          <a:bodyPr>
            <a:normAutofit fontScale="92500" lnSpcReduction="10000"/>
          </a:bodyPr>
          <a:lstStyle/>
          <a:p>
            <a:pPr lvl="0">
              <a:buFont typeface="Wingdings" panose="05000000000000000000" pitchFamily="2" charset="2"/>
              <a:buChar char="ü"/>
            </a:pPr>
            <a:r>
              <a:rPr lang="en-US" b="1" dirty="0"/>
              <a:t>Chain Network.</a:t>
            </a:r>
            <a:r>
              <a:rPr lang="en-US" dirty="0"/>
              <a:t> Refers to a communication pattern where information passes from one person to another in a sequence.</a:t>
            </a:r>
          </a:p>
          <a:p>
            <a:pPr marL="0" indent="0">
              <a:buNone/>
            </a:pPr>
            <a:r>
              <a:rPr lang="en-US" b="1" dirty="0" smtClean="0"/>
              <a:t> Example</a:t>
            </a:r>
            <a:r>
              <a:rPr lang="en-US" b="1" dirty="0"/>
              <a:t>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Manager → Supervisor → Team leader → Employee.</a:t>
            </a:r>
          </a:p>
          <a:p>
            <a:pPr marL="0" indent="0">
              <a:buNone/>
            </a:pPr>
            <a:r>
              <a:rPr lang="en-US" dirty="0"/>
              <a:t>This type is common in organizations with different levels of authority.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US" b="1" dirty="0" smtClean="0"/>
              <a:t> Wheel </a:t>
            </a:r>
            <a:r>
              <a:rPr lang="en-US" b="1" dirty="0"/>
              <a:t>Network.</a:t>
            </a:r>
            <a:r>
              <a:rPr lang="en-US" dirty="0"/>
              <a:t> This has one central person who communicates with all the other members. The members usually communicate through the central person rather than directly with one another.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b="1" dirty="0" smtClean="0"/>
              <a:t>Example</a:t>
            </a:r>
            <a:r>
              <a:rPr lang="en-US" b="1" dirty="0"/>
              <a:t>:</a:t>
            </a:r>
            <a:r>
              <a:rPr lang="en-US" dirty="0"/>
              <a:t> A manager gives instructions directly to several employees and receives information back from them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75970"/>
            <a:ext cx="10972800" cy="5351780"/>
          </a:xfrm>
        </p:spPr>
        <p:txBody>
          <a:bodyPr>
            <a:normAutofit fontScale="90000" lnSpcReduction="20000"/>
          </a:bodyPr>
          <a:lstStyle/>
          <a:p>
            <a:pPr lvl="0">
              <a:buFont typeface="Wingdings" panose="05000000000000000000" pitchFamily="2" charset="2"/>
              <a:buChar char="ü"/>
            </a:pPr>
            <a:r>
              <a:rPr lang="en-US" b="1" dirty="0"/>
              <a:t>Y Network. </a:t>
            </a:r>
            <a:r>
              <a:rPr lang="en-US" dirty="0"/>
              <a:t>This is similar to a chain but has a branching structure. One person is at the central point, and communication flows through different branches to other members.</a:t>
            </a:r>
          </a:p>
          <a:p>
            <a:pPr marL="0" indent="0">
              <a:buNone/>
            </a:pPr>
            <a:r>
              <a:rPr lang="en-US" b="1" dirty="0" smtClean="0"/>
              <a:t>Example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        Manager</a:t>
            </a:r>
          </a:p>
          <a:p>
            <a:pPr marL="0" indent="0">
              <a:buNone/>
            </a:pPr>
            <a:r>
              <a:rPr lang="en-US" dirty="0" smtClean="0"/>
              <a:t>         </a:t>
            </a:r>
            <a:r>
              <a:rPr lang="en-US" dirty="0"/>
              <a:t>|</a:t>
            </a:r>
          </a:p>
          <a:p>
            <a:pPr marL="0" indent="0">
              <a:buNone/>
            </a:pPr>
            <a:r>
              <a:rPr lang="en-US" dirty="0" smtClean="0"/>
              <a:t>      </a:t>
            </a:r>
            <a:r>
              <a:rPr lang="en-US" dirty="0"/>
              <a:t>Supervisor</a:t>
            </a:r>
          </a:p>
          <a:p>
            <a:pPr marL="0" indent="0">
              <a:buNone/>
            </a:pPr>
            <a:r>
              <a:rPr lang="en-US" dirty="0"/>
              <a:t>        /       \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/>
              <a:t>Worker      </a:t>
            </a:r>
            <a:r>
              <a:rPr lang="en-US" dirty="0" err="1"/>
              <a:t>Worker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 Y network is often used where communication follows a formal organizational structure.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274743"/>
          </a:xfrm>
        </p:spPr>
        <p:txBody>
          <a:bodyPr/>
          <a:lstStyle/>
          <a:p>
            <a:r>
              <a:rPr lang="en-US" dirty="0"/>
              <a:t>The purpose of </a:t>
            </a:r>
            <a:r>
              <a:rPr lang="en-US" dirty="0" smtClean="0"/>
              <a:t>Internal </a:t>
            </a:r>
            <a:r>
              <a:rPr lang="en-US" dirty="0"/>
              <a:t>and </a:t>
            </a:r>
            <a:r>
              <a:rPr lang="en-US" dirty="0" smtClean="0"/>
              <a:t>External </a:t>
            </a:r>
            <a:r>
              <a:rPr lang="en-US" dirty="0"/>
              <a:t>communication networks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1682"/>
            <a:ext cx="10972800" cy="43760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Communication Networks can be divided into internal networks, which operate within an organization, and external networks, which connect an organization with people outside it</a:t>
            </a:r>
          </a:p>
        </p:txBody>
      </p:sp>
    </p:spTree>
    <p:extLst>
      <p:ext uri="{BB962C8B-B14F-4D97-AF65-F5344CB8AC3E}">
        <p14:creationId xmlns:p14="http://schemas.microsoft.com/office/powerpoint/2010/main" val="2582728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53797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/>
              <a:t> INTERNAL COMMUNICATION NETWORK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14550"/>
            <a:ext cx="10972800" cy="4013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600" dirty="0" smtClean="0"/>
              <a:t>Internal Communication Network is the systematic pathway through which information flows among members within an organisation. This includes;</a:t>
            </a:r>
            <a:endParaRPr lang="en-US" sz="26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Downward </a:t>
            </a:r>
            <a:r>
              <a:rPr lang="en-US" sz="2400" dirty="0"/>
              <a:t>communication network</a:t>
            </a:r>
            <a:br>
              <a:rPr lang="en-US" sz="2400" dirty="0"/>
            </a:br>
            <a:r>
              <a:rPr lang="en-US" sz="2400" dirty="0"/>
              <a:t>Information flows from senior management to lower-level employees.</a:t>
            </a:r>
            <a:br>
              <a:rPr lang="en-US" sz="2400" dirty="0"/>
            </a:br>
            <a:r>
              <a:rPr lang="en-US" sz="2400" dirty="0"/>
              <a:t>Purpose: To give instructions, policies, procedures, and information about organizational decisions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Upward communication network</a:t>
            </a:r>
            <a:br>
              <a:rPr lang="en-US" sz="2400" dirty="0"/>
            </a:br>
            <a:r>
              <a:rPr lang="en-US" sz="2400" dirty="0"/>
              <a:t>Information flows from employees to managers or senior management.</a:t>
            </a:r>
            <a:br>
              <a:rPr lang="en-US" sz="2400" dirty="0"/>
            </a:br>
            <a:r>
              <a:rPr lang="en-US" sz="2400" dirty="0"/>
              <a:t>Purpose: To provide feedback, suggestions, complaints, reports, and information about problems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Horizontal communication network</a:t>
            </a:r>
            <a:br>
              <a:rPr lang="en-US" dirty="0"/>
            </a:br>
            <a:r>
              <a:rPr lang="en-US" dirty="0"/>
              <a:t>Communication takes place between people or departments at the same level of an organization.</a:t>
            </a:r>
            <a:br>
              <a:rPr lang="en-US" dirty="0"/>
            </a:br>
            <a:r>
              <a:rPr lang="en-US" dirty="0"/>
              <a:t>Purpose: To coordinate activities, share information, and solve problems together.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Diagonal communication network</a:t>
            </a:r>
            <a:br>
              <a:rPr lang="en-US" dirty="0"/>
            </a:br>
            <a:r>
              <a:rPr lang="en-US" dirty="0"/>
              <a:t>Communication occurs between people in different departments and at different levels of the organization.</a:t>
            </a:r>
            <a:br>
              <a:rPr lang="en-US" dirty="0"/>
            </a:br>
            <a:r>
              <a:rPr lang="en-US" dirty="0"/>
              <a:t>Purpose: To improve coordination and allow information to move quickly across departments.</a:t>
            </a:r>
            <a:endParaRPr lang="en-US" sz="1800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US" sz="2000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270000"/>
          </a:xfrm>
        </p:spPr>
        <p:txBody>
          <a:bodyPr>
            <a:normAutofit/>
          </a:bodyPr>
          <a:lstStyle/>
          <a:p>
            <a:pPr algn="ctr"/>
            <a:r>
              <a:rPr lang="en-US" sz="3555" b="1" dirty="0" smtClean="0"/>
              <a:t>EXTERNAL COMMUNICATION NETWORK</a:t>
            </a:r>
            <a:endParaRPr lang="en-US" sz="311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52270"/>
            <a:ext cx="10972800" cy="5205730"/>
          </a:xfrm>
        </p:spPr>
        <p:txBody>
          <a:bodyPr/>
          <a:lstStyle/>
          <a:p>
            <a:pPr marL="0" indent="0">
              <a:buNone/>
            </a:pPr>
            <a:r>
              <a:rPr lang="en-GB" sz="2800" dirty="0" smtClean="0"/>
              <a:t>External Communication Network is the channel and methods an organization uses to exchange information with individuals and entities outside the company. </a:t>
            </a:r>
            <a:r>
              <a:rPr lang="en-GB" sz="2800" dirty="0" smtClean="0"/>
              <a:t>Examples include;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Customer/client </a:t>
            </a:r>
            <a:r>
              <a:rPr lang="en-US" sz="2400" dirty="0"/>
              <a:t>communication network</a:t>
            </a:r>
            <a:br>
              <a:rPr lang="en-US" sz="2400" dirty="0"/>
            </a:br>
            <a:r>
              <a:rPr lang="en-US" sz="2400" dirty="0"/>
              <a:t>Communication takes place between an organization and its customers or clients.</a:t>
            </a:r>
            <a:br>
              <a:rPr lang="en-US" sz="2400" dirty="0"/>
            </a:br>
            <a:r>
              <a:rPr lang="en-US" sz="2400" dirty="0"/>
              <a:t>Purpose: To provide information, receive feedback, handle complaints, and maintain good customer relationships.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Supplier communication network</a:t>
            </a:r>
            <a:br>
              <a:rPr lang="en-US" sz="2400" dirty="0"/>
            </a:br>
            <a:r>
              <a:rPr lang="en-US" sz="2400" dirty="0"/>
              <a:t>Communication occurs between an organization and its suppliers or service providers.</a:t>
            </a:r>
            <a:br>
              <a:rPr lang="en-US" sz="2400" dirty="0"/>
            </a:br>
            <a:r>
              <a:rPr lang="en-US" sz="2400" dirty="0"/>
              <a:t>Purpose: To order goods and services, discuss prices and delivery, and maintain reliable supplies.</a:t>
            </a:r>
          </a:p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21335"/>
            <a:ext cx="10972800" cy="56064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Public/community </a:t>
            </a:r>
            <a:r>
              <a:rPr lang="en-US" b="1" dirty="0"/>
              <a:t>communication network</a:t>
            </a:r>
            <a:br>
              <a:rPr lang="en-US" b="1" dirty="0"/>
            </a:br>
            <a:r>
              <a:rPr lang="en-US" dirty="0"/>
              <a:t>Communication takes place between an organization and the general public, local community, media, or other outside groups.</a:t>
            </a:r>
            <a:br>
              <a:rPr lang="en-US" dirty="0"/>
            </a:br>
            <a:r>
              <a:rPr lang="en-US" dirty="0"/>
              <a:t>Purpose: To create a positive public image, provide information, build trust, and maintain good relationships with the </a:t>
            </a:r>
            <a:r>
              <a:rPr lang="en-US" dirty="0" smtClean="0"/>
              <a:t>community.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GB" dirty="0" smtClean="0"/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8750"/>
            <a:ext cx="10972800" cy="106362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sym typeface="+mn-ea"/>
              </a:rPr>
              <a:t> </a:t>
            </a:r>
            <a:r>
              <a:rPr lang="en-US" sz="3200" b="1" dirty="0">
                <a:sym typeface="+mn-ea"/>
              </a:rPr>
              <a:t>T</a:t>
            </a:r>
            <a:r>
              <a:rPr lang="en-US" sz="3200" b="1" dirty="0" smtClean="0">
                <a:sym typeface="+mn-ea"/>
              </a:rPr>
              <a:t>he </a:t>
            </a:r>
            <a:r>
              <a:rPr lang="en-US" sz="3200" b="1" dirty="0">
                <a:sym typeface="+mn-ea"/>
              </a:rPr>
              <a:t>7Cs for effective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375"/>
            <a:ext cx="10972800" cy="4905375"/>
          </a:xfrm>
        </p:spPr>
        <p:txBody>
          <a:bodyPr>
            <a:normAutofit fontScale="92500" lnSpcReduction="20000"/>
          </a:bodyPr>
          <a:lstStyle/>
          <a:p>
            <a:pPr lvl="0">
              <a:buFont typeface="Wingdings" panose="05000000000000000000" charset="0"/>
              <a:buChar char="Ø"/>
            </a:pPr>
            <a:r>
              <a:rPr lang="en-US" b="1" dirty="0"/>
              <a:t>Clarity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message should be clear and easy to understand. Avoid confusing or ambiguous words.</a:t>
            </a:r>
            <a:br>
              <a:rPr lang="en-US" dirty="0"/>
            </a:br>
            <a:r>
              <a:rPr lang="en-US" b="1" dirty="0"/>
              <a:t>Example: </a:t>
            </a:r>
            <a:r>
              <a:rPr lang="en-US" dirty="0"/>
              <a:t>Instead of saying, “Come early,” say, “Please arrive at 8:00 a.m.”</a:t>
            </a:r>
          </a:p>
          <a:p>
            <a:pPr lvl="0">
              <a:buFont typeface="Wingdings" panose="05000000000000000000" charset="0"/>
              <a:buChar char="Ø"/>
            </a:pPr>
            <a:r>
              <a:rPr lang="en-US" b="1" dirty="0"/>
              <a:t>Conciseness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message should be brief and to the point, without unnecessary information.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 Give only the information the receiver needs.</a:t>
            </a:r>
          </a:p>
          <a:p>
            <a:pPr>
              <a:buFont typeface="Wingdings" panose="05000000000000000000" charset="0"/>
              <a:buChar char="Ø"/>
            </a:pPr>
            <a:r>
              <a:rPr lang="en-US" b="1" dirty="0"/>
              <a:t>Completeness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message should contain all the necessary information the receiver needs to understand and act on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37845"/>
            <a:ext cx="10972800" cy="558990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dirty="0"/>
              <a:t> </a:t>
            </a:r>
            <a:r>
              <a:rPr lang="en-US" b="1" dirty="0"/>
              <a:t> Example:</a:t>
            </a:r>
            <a:r>
              <a:rPr lang="en-US" dirty="0"/>
              <a:t> When giving an assignment, include the topic, deadline, and instructions.</a:t>
            </a:r>
          </a:p>
          <a:p>
            <a:pPr lvl="0">
              <a:buFont typeface="Wingdings" panose="05000000000000000000" charset="0"/>
              <a:buChar char="Ø"/>
            </a:pPr>
            <a:r>
              <a:rPr lang="en-US" b="1" dirty="0"/>
              <a:t>Correctness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information should be accurate and free from errors in facts, grammar, spelling, and language.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Example:</a:t>
            </a:r>
            <a:r>
              <a:rPr lang="en-US" dirty="0"/>
              <a:t> Check dates, names, figures, and other important details before sending a message.</a:t>
            </a:r>
          </a:p>
          <a:p>
            <a:pPr lvl="0">
              <a:buFont typeface="Wingdings" panose="05000000000000000000" charset="0"/>
              <a:buChar char="Ø"/>
            </a:pPr>
            <a:r>
              <a:rPr lang="en-US" b="1" dirty="0"/>
              <a:t>Concreteness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message should be specific, definite, and supported by facts or examples rather than being vague.</a:t>
            </a:r>
            <a:br>
              <a:rPr lang="en-US" dirty="0"/>
            </a:br>
            <a:r>
              <a:rPr lang="en-US" dirty="0"/>
              <a:t> </a:t>
            </a:r>
            <a:r>
              <a:rPr lang="en-US" b="1" dirty="0"/>
              <a:t>Example:</a:t>
            </a:r>
            <a:r>
              <a:rPr lang="en-US" dirty="0"/>
              <a:t> Instead of saying, “Sales increased a lot,” say, “Sales increased by 20</a:t>
            </a:r>
            <a:r>
              <a:rPr lang="en-US" dirty="0" smtClean="0"/>
              <a:t>%”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68960"/>
            <a:ext cx="10972800" cy="5558790"/>
          </a:xfrm>
        </p:spPr>
        <p:txBody>
          <a:bodyPr>
            <a:normAutofit fontScale="90000" lnSpcReduction="20000"/>
          </a:bodyPr>
          <a:lstStyle/>
          <a:p>
            <a:pPr lvl="0">
              <a:buFont typeface="Wingdings" panose="05000000000000000000" charset="0"/>
              <a:buChar char="Ø"/>
            </a:pPr>
            <a:r>
              <a:rPr lang="en-US" b="1" dirty="0"/>
              <a:t>Courtesy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Communication should be polite, respectful, and considerate of the feelings of others.</a:t>
            </a:r>
            <a:br>
              <a:rPr lang="en-US" dirty="0"/>
            </a:br>
            <a:r>
              <a:rPr lang="en-US" dirty="0"/>
              <a:t>Example: Use respectful language when correcting someone's mistake.</a:t>
            </a:r>
          </a:p>
          <a:p>
            <a:pPr lvl="0">
              <a:buFont typeface="Wingdings" panose="05000000000000000000" charset="0"/>
              <a:buChar char="Ø"/>
            </a:pPr>
            <a:r>
              <a:rPr lang="en-US" b="1" dirty="0"/>
              <a:t>Consideration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sender should think about the receiver's needs, knowledge, feelings, and point of view when communicating.</a:t>
            </a:r>
            <a:br>
              <a:rPr lang="en-US" dirty="0"/>
            </a:br>
            <a:r>
              <a:rPr lang="en-US" b="1" dirty="0"/>
              <a:t>Example</a:t>
            </a:r>
            <a:r>
              <a:rPr lang="en-US" dirty="0"/>
              <a:t>: Explain a technical subject in simple language when speaking to someone who is unfamiliar with it.</a:t>
            </a:r>
          </a:p>
          <a:p>
            <a:pPr marL="0" indent="0">
              <a:buNone/>
            </a:pPr>
            <a:r>
              <a:rPr lang="en-US" b="1" dirty="0"/>
              <a:t>In summary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The </a:t>
            </a:r>
            <a:r>
              <a:rPr lang="en-US" dirty="0"/>
              <a:t>7 Cs </a:t>
            </a:r>
            <a:r>
              <a:rPr lang="en-US" dirty="0" smtClean="0"/>
              <a:t>are: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b="1" dirty="0" smtClean="0"/>
              <a:t> Clarity </a:t>
            </a:r>
            <a:r>
              <a:rPr lang="en-US" b="1" dirty="0"/>
              <a:t>– Conciseness – Completeness – Correctness – Concreteness – Courtesy – Consideration.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2235"/>
            <a:ext cx="10515600" cy="1072515"/>
          </a:xfrm>
        </p:spPr>
        <p:txBody>
          <a:bodyPr>
            <a:normAutofit/>
          </a:bodyPr>
          <a:lstStyle/>
          <a:p>
            <a:pPr algn="ctr"/>
            <a:r>
              <a:rPr lang="en-US" sz="3555" b="1" dirty="0" smtClean="0"/>
              <a:t>Ways of developing </a:t>
            </a:r>
            <a:r>
              <a:rPr lang="en-US" sz="3555" b="1" dirty="0"/>
              <a:t>effective </a:t>
            </a:r>
            <a:r>
              <a:rPr lang="en-US" sz="3555" b="1" dirty="0" smtClean="0"/>
              <a:t>basic </a:t>
            </a:r>
            <a:r>
              <a:rPr lang="en-US" sz="3555" b="1" dirty="0" smtClean="0"/>
              <a:t>skills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01750"/>
            <a:ext cx="10988040" cy="527177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We can develop effective </a:t>
            </a:r>
            <a:r>
              <a:rPr lang="en-US" dirty="0" smtClean="0"/>
              <a:t>basic </a:t>
            </a:r>
            <a:r>
              <a:rPr lang="en-US" dirty="0"/>
              <a:t>skills in these ways: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Practice speaking regularly; </a:t>
            </a:r>
            <a:r>
              <a:rPr lang="en-US" dirty="0"/>
              <a:t>Speak in front of friends, classmates, or a mirror to build </a:t>
            </a:r>
            <a:r>
              <a:rPr lang="en-US" dirty="0" smtClean="0"/>
              <a:t>confidence.</a:t>
            </a:r>
            <a:r>
              <a:rPr lang="en-US" sz="1800" dirty="0" smtClean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Listen </a:t>
            </a:r>
            <a:r>
              <a:rPr lang="en-US" b="1" dirty="0"/>
              <a:t>carefully; </a:t>
            </a:r>
            <a:r>
              <a:rPr lang="en-US" dirty="0"/>
              <a:t>Good listening helps you learn how to express ideas clearly and respond </a:t>
            </a:r>
            <a:r>
              <a:rPr lang="en-US" dirty="0" smtClean="0"/>
              <a:t>appropriately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Read </a:t>
            </a:r>
            <a:r>
              <a:rPr lang="en-US" b="1" dirty="0"/>
              <a:t>widely; </a:t>
            </a:r>
            <a:r>
              <a:rPr lang="en-US" dirty="0"/>
              <a:t>Reading improves your vocabulary, grammar, knowledge, and ability to express </a:t>
            </a:r>
            <a:r>
              <a:rPr lang="en-US" dirty="0" smtClean="0"/>
              <a:t>yourself.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Improve </a:t>
            </a:r>
            <a:r>
              <a:rPr lang="en-US" b="1" dirty="0"/>
              <a:t>your vocabulary; </a:t>
            </a:r>
            <a:r>
              <a:rPr lang="en-US" dirty="0"/>
              <a:t>Learn new words and </a:t>
            </a:r>
            <a:r>
              <a:rPr lang="en-US" dirty="0" err="1"/>
              <a:t>practise</a:t>
            </a:r>
            <a:r>
              <a:rPr lang="en-US" dirty="0"/>
              <a:t> using them </a:t>
            </a:r>
            <a:r>
              <a:rPr lang="en-US" dirty="0" smtClean="0"/>
              <a:t>correctly.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Speak </a:t>
            </a:r>
            <a:r>
              <a:rPr lang="en-US" b="1" dirty="0"/>
              <a:t>clearly and loudly enough;</a:t>
            </a:r>
            <a:r>
              <a:rPr lang="en-US" dirty="0"/>
              <a:t>Pronounce words properly and use a suitable speed and volume.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88950"/>
            <a:ext cx="10972800" cy="5638800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Organize your ideas</a:t>
            </a:r>
            <a:r>
              <a:rPr lang="en-US" dirty="0"/>
              <a:t>;Think about your main points before speaking so that your message is logical.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Use simple language</a:t>
            </a:r>
            <a:r>
              <a:rPr lang="en-US" dirty="0"/>
              <a:t> ; Avoid difficult words when simple words can communicate the same idea.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Maintain eye contact</a:t>
            </a:r>
            <a:r>
              <a:rPr lang="en-US" dirty="0"/>
              <a:t> ; Appropriate eye contact shows confidence and keeps the audience interested.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Ask for feedback</a:t>
            </a:r>
            <a:r>
              <a:rPr lang="en-US" dirty="0"/>
              <a:t> ; Allow others to tell you what you are doing well and what you need to improve.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Control nervousness ;</a:t>
            </a:r>
            <a:r>
              <a:rPr lang="en-US" dirty="0"/>
              <a:t> Take deep breaths, prepare well, and </a:t>
            </a:r>
            <a:r>
              <a:rPr lang="en-US" dirty="0" err="1"/>
              <a:t>practise</a:t>
            </a:r>
            <a:r>
              <a:rPr lang="en-US" dirty="0"/>
              <a:t> before speaking in public.</a:t>
            </a:r>
            <a:endParaRPr lang="en-US" sz="1800" dirty="0"/>
          </a:p>
          <a:p>
            <a:pPr marL="0" indent="0">
              <a:buNone/>
            </a:pPr>
            <a:r>
              <a:rPr lang="en-GB" b="1" i="1" dirty="0" smtClean="0"/>
              <a:t>                                  THE 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6*290"/>
  <p:tag name="TABLE_ENDDRAG_RECT" val="49*199*826*290"/>
</p:tagLst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611</Words>
  <Application>Microsoft Office PowerPoint</Application>
  <PresentationFormat>Widescreen</PresentationFormat>
  <Paragraphs>214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SimSun</vt:lpstr>
      <vt:lpstr>Arial</vt:lpstr>
      <vt:lpstr>Arial Black</vt:lpstr>
      <vt:lpstr>Verdana</vt:lpstr>
      <vt:lpstr>Wingdings</vt:lpstr>
      <vt:lpstr>Blue Waves</vt:lpstr>
      <vt:lpstr>GROUP WORK ASSIGNMENT FOR COMMUNICATION SKILLS BY GROUP 1 COURSE UNIT: BIS 1104/UNV 1101 SEMESTER:1 LECTURER: KOMUGISHA LILIAN YEAR: 1</vt:lpstr>
      <vt:lpstr> Communication</vt:lpstr>
      <vt:lpstr>Examples of communication</vt:lpstr>
      <vt:lpstr>Types of communication:</vt:lpstr>
      <vt:lpstr>PowerPoint Presentation</vt:lpstr>
      <vt:lpstr>PowerPoint Presentation</vt:lpstr>
      <vt:lpstr>PowerPoint Presentation</vt:lpstr>
      <vt:lpstr> Terms used in communication process.</vt:lpstr>
      <vt:lpstr>PowerPoint Presentation</vt:lpstr>
      <vt:lpstr>PowerPoint Presentation</vt:lpstr>
      <vt:lpstr> Noise</vt:lpstr>
      <vt:lpstr> Types of communication processes</vt:lpstr>
      <vt:lpstr>PowerPoint Presentation</vt:lpstr>
      <vt:lpstr> Barriers of effective communication</vt:lpstr>
      <vt:lpstr>PowerPoint Presentation</vt:lpstr>
      <vt:lpstr>PowerPoint Presentation</vt:lpstr>
      <vt:lpstr> Communication Networks</vt:lpstr>
      <vt:lpstr>Common types of communication networks</vt:lpstr>
      <vt:lpstr>Perspectives in which communication network occurs</vt:lpstr>
      <vt:lpstr>Types of Networks</vt:lpstr>
      <vt:lpstr>PowerPoint Presentation</vt:lpstr>
      <vt:lpstr>PowerPoint Presentation</vt:lpstr>
      <vt:lpstr>The purpose of Internal and External communication networks </vt:lpstr>
      <vt:lpstr> INTERNAL COMMUNICATION NETWORK</vt:lpstr>
      <vt:lpstr>PowerPoint Presentation</vt:lpstr>
      <vt:lpstr>EXTERNAL COMMUNICATION NETWORK</vt:lpstr>
      <vt:lpstr>PowerPoint Presentation</vt:lpstr>
      <vt:lpstr> The 7Cs for effective communication</vt:lpstr>
      <vt:lpstr>PowerPoint Presentation</vt:lpstr>
      <vt:lpstr>PowerPoint Presentation</vt:lpstr>
      <vt:lpstr>Ways of developing effective basic skills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THINKPAD</dc:creator>
  <cp:lastModifiedBy>USER</cp:lastModifiedBy>
  <cp:revision>20</cp:revision>
  <dcterms:created xsi:type="dcterms:W3CDTF">2025-07-23T00:59:00Z</dcterms:created>
  <dcterms:modified xsi:type="dcterms:W3CDTF">2026-09-03T17:23:11Z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AD48C7AE3D94449CA146EE788CDD0483_11</vt:lpwstr>
  </property>
  <property fmtid="{D5CDD505-2E9C-101B-9397-08002B2CF9AE}" pid="3" name="KSOProductBuildVer">
    <vt:lpwstr>2057-12.2.0.23202</vt:lpwstr>
  </property>
</Properties>
</file>